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2" r:id="rId5"/>
    <p:sldMasterId id="214748366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5D26A2D-541E-4E3C-B1B8-7C1CD5C33501}">
  <a:tblStyle styleId="{75D26A2D-541E-4E3C-B1B8-7C1CD5C3350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h5d3cb57022d08142_3_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h5d3cb57022d08142_3_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Introduce the team and the project: an AI legal information assistant that uses a supervised-learning classifier and A* search (Unit II informed search) to retrieve source-backed answers about common Indian legal issues.</a:t>
            </a:r>
            <a:endParaRPr/>
          </a:p>
        </p:txBody>
      </p:sp>
      <p:sp>
        <p:nvSpPr>
          <p:cNvPr id="61" name="Google Shape;61;h5d3cb57022d08142_3_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h5d3cb57022d08142_3_4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h5d3cb57022d08142_3_4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legal information is scattered and people phrase questions differently; naive chatbots return unrelated answers. Our solution combines a learned classifier with A* search and a reliability threshold, and always cites the law and source.</a:t>
            </a:r>
            <a:endParaRPr/>
          </a:p>
        </p:txBody>
      </p:sp>
      <p:sp>
        <p:nvSpPr>
          <p:cNvPr id="92" name="Google Shape;92;h5d3cb57022d08142_3_4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5d3cb57022d08142_3_6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h5d3cb57022d08142_3_6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Paper 1 is the original A* paper that guarantees optimal results with an admissible heuristic — the basis of our search. Paper 2 surveys Legal AI and highlights the need for interpretability. Paper 3 (LEGAL-BERT) shows domain language models help but are compute-heavy and not Indian.</a:t>
            </a:r>
            <a:endParaRPr/>
          </a:p>
        </p:txBody>
      </p:sp>
      <p:sp>
        <p:nvSpPr>
          <p:cNvPr id="117" name="Google Shape;117;h5d3cb57022d08142_3_6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5d3cb57022d08142_3_7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h5d3cb57022d08142_3_7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Paper 4 builds retrieval chatbots for legal FAQs and reports unseen vocabulary as a weakness — we address it with synonyms and keywords plus a rejection threshold. Paper 5 builds Indian-law language models for professionals; our system targets citizens with plain-language, source-backed answers.</a:t>
            </a:r>
            <a:endParaRPr/>
          </a:p>
        </p:txBody>
      </p:sp>
      <p:sp>
        <p:nvSpPr>
          <p:cNvPr id="125" name="Google Shape;125;h5d3cb57022d08142_3_7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5d3cb57022d08142_3_8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h5d3cb57022d08142_3_8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Walk through the pipeline left to right. The classifier gives probabilities, which A* uses as part of the path cost. The heuristic is admissible because an entry cannot match more words than its whole category vocabulary, so A* returns the optimal entry and prunes the rest. If the best match is below 45%, the agent refuses instead of guessing.</a:t>
            </a:r>
            <a:endParaRPr/>
          </a:p>
        </p:txBody>
      </p:sp>
      <p:sp>
        <p:nvSpPr>
          <p:cNvPr id="133" name="Google Shape;133;h5d3cb57022d08142_3_8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h5d3cb57022d08142_3_12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h5d3cb57022d08142_3_12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1 converts text into features and predicts category probabilities. Module 2 is the A* search with open and closed lists, admissible heuristic and path reconstruction. Module 3 applies the reliability threshold and serves everything through the Flask web app.</a:t>
            </a:r>
            <a:endParaRPr/>
          </a:p>
        </p:txBody>
      </p:sp>
      <p:sp>
        <p:nvSpPr>
          <p:cNvPr id="172" name="Google Shape;172;h5d3cb57022d08142_3_12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h5d3cb57022d08142_3_15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h5d3cb57022d08142_3_15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flow: home screen, then 'Someone hacked my account' showing the cybercrime answer with IT Act 66C and cybercrime.gov.in; open the A* panel to show g, h, f and pruned categories; finally ask about divorce to show the safe rejection.</a:t>
            </a:r>
            <a:endParaRPr/>
          </a:p>
        </p:txBody>
      </p:sp>
      <p:sp>
        <p:nvSpPr>
          <p:cNvPr id="203" name="Google Shape;203;h5d3cb57022d08142_3_15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h5d3cb57022d08142_3_16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h5d3cb57022d08142_3_16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Summarise results and syllabus mapping, then mention limitations (English only, selected topics, needs periodic verification) and the planned enhancements.</a:t>
            </a:r>
            <a:endParaRPr/>
          </a:p>
        </p:txBody>
      </p:sp>
      <p:sp>
        <p:nvSpPr>
          <p:cNvPr id="222" name="Google Shape;222;h5d3cb57022d08142_3_16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h5d3cb57022d08142_3_19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h5d3cb57022d08142_3_19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 [1]–[5] are the literature survey papers; [6] is the course textbook for A* and agents; [7] is the ML library; [8] lists the official legal sources used in the knowledge base.</a:t>
            </a:r>
            <a:endParaRPr/>
          </a:p>
        </p:txBody>
      </p:sp>
      <p:sp>
        <p:nvSpPr>
          <p:cNvPr id="254" name="Google Shape;254;h5d3cb57022d08142_3_19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h5d3cb57022d08142_3_20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h5d3cb57022d08142_3_20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the panel and invite questions. Be ready to explain why the heuristic is admissible and how the threshold prevents wrong answers.</a:t>
            </a:r>
            <a:endParaRPr/>
          </a:p>
        </p:txBody>
      </p:sp>
      <p:sp>
        <p:nvSpPr>
          <p:cNvPr id="262" name="Google Shape;262;h5d3cb57022d08142_3_20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">
  <p:cSld name="DARK"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/>
          <p:nvPr>
            <p:ph type="title"/>
          </p:nvPr>
        </p:nvSpPr>
        <p:spPr>
          <a:xfrm>
            <a:off x="411480" y="240030"/>
            <a:ext cx="8320811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  <a:defRPr b="1" i="0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5" name="Google Shape;55;p15"/>
          <p:cNvSpPr/>
          <p:nvPr/>
        </p:nvSpPr>
        <p:spPr>
          <a:xfrm>
            <a:off x="411480" y="483489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AI-Based Legal Assistant  ·  A* Search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5"/>
          <p:cNvSpPr txBox="1"/>
          <p:nvPr>
            <p:ph idx="12" type="sldNum"/>
          </p:nvPr>
        </p:nvSpPr>
        <p:spPr>
          <a:xfrm>
            <a:off x="8320811" y="483489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320811" y="483489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/>
          <p:nvPr/>
        </p:nvSpPr>
        <p:spPr>
          <a:xfrm>
            <a:off x="1028700" y="411480"/>
            <a:ext cx="54864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FOUNDATIONS OF ARTIFICIAL INTELLIGENCE  ·  PROJECT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7"/>
          <p:cNvSpPr txBox="1"/>
          <p:nvPr/>
        </p:nvSpPr>
        <p:spPr>
          <a:xfrm>
            <a:off x="411480" y="1200150"/>
            <a:ext cx="5623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mbria"/>
              <a:buNone/>
            </a:pPr>
            <a:r>
              <a:rPr b="1" i="0" lang="en" sz="35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AI-Based Legal Assistant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7"/>
          <p:cNvSpPr txBox="1"/>
          <p:nvPr/>
        </p:nvSpPr>
        <p:spPr>
          <a:xfrm>
            <a:off x="411480" y="2023115"/>
            <a:ext cx="53493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Source-backed legal information for Indian citizens using an AI classifier and A* search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7"/>
          <p:cNvSpPr txBox="1"/>
          <p:nvPr/>
        </p:nvSpPr>
        <p:spPr>
          <a:xfrm>
            <a:off x="411480" y="2880690"/>
            <a:ext cx="2743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alibri"/>
              <a:buNone/>
            </a:pPr>
            <a:r>
              <a:rPr b="1" i="0" lang="en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TEAM MEMBERS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7"/>
          <p:cNvSpPr txBox="1"/>
          <p:nvPr/>
        </p:nvSpPr>
        <p:spPr>
          <a:xfrm>
            <a:off x="411542" y="3175235"/>
            <a:ext cx="2469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Sajine Santhakumar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7"/>
          <p:cNvSpPr txBox="1"/>
          <p:nvPr/>
        </p:nvSpPr>
        <p:spPr>
          <a:xfrm>
            <a:off x="2948940" y="3175260"/>
            <a:ext cx="19203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lang="en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240701459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7"/>
          <p:cNvSpPr txBox="1"/>
          <p:nvPr/>
        </p:nvSpPr>
        <p:spPr>
          <a:xfrm>
            <a:off x="411480" y="3552035"/>
            <a:ext cx="2469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Roshini 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7"/>
          <p:cNvSpPr txBox="1"/>
          <p:nvPr/>
        </p:nvSpPr>
        <p:spPr>
          <a:xfrm>
            <a:off x="2948940" y="3552010"/>
            <a:ext cx="19203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lang="en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240701442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7"/>
          <p:cNvSpPr txBox="1"/>
          <p:nvPr/>
        </p:nvSpPr>
        <p:spPr>
          <a:xfrm>
            <a:off x="411480" y="4217670"/>
            <a:ext cx="51435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Guided by: </a:t>
            </a:r>
            <a:r>
              <a:rPr lang="en" sz="11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Mrs. Deepa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" name="Google Shape;72;p17"/>
          <p:cNvCxnSpPr/>
          <p:nvPr/>
        </p:nvCxnSpPr>
        <p:spPr>
          <a:xfrm flipH="1">
            <a:off x="6446520" y="1371600"/>
            <a:ext cx="1028700" cy="960120"/>
          </a:xfrm>
          <a:prstGeom prst="straightConnector1">
            <a:avLst/>
          </a:prstGeom>
          <a:noFill/>
          <a:ln cap="flat" cmpd="sng" w="317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17"/>
          <p:cNvCxnSpPr/>
          <p:nvPr/>
        </p:nvCxnSpPr>
        <p:spPr>
          <a:xfrm>
            <a:off x="7475220" y="1371600"/>
            <a:ext cx="685" cy="960120"/>
          </a:xfrm>
          <a:prstGeom prst="straightConnector1">
            <a:avLst/>
          </a:prstGeom>
          <a:noFill/>
          <a:ln cap="flat" cmpd="sng" w="158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4" name="Google Shape;74;p17"/>
          <p:cNvCxnSpPr/>
          <p:nvPr/>
        </p:nvCxnSpPr>
        <p:spPr>
          <a:xfrm>
            <a:off x="7475220" y="1371600"/>
            <a:ext cx="1028700" cy="960120"/>
          </a:xfrm>
          <a:prstGeom prst="straightConnector1">
            <a:avLst/>
          </a:prstGeom>
          <a:noFill/>
          <a:ln cap="flat" cmpd="sng" w="158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5" name="Google Shape;75;p17"/>
          <p:cNvCxnSpPr/>
          <p:nvPr/>
        </p:nvCxnSpPr>
        <p:spPr>
          <a:xfrm flipH="1">
            <a:off x="6172200" y="2331720"/>
            <a:ext cx="274320" cy="960120"/>
          </a:xfrm>
          <a:prstGeom prst="straightConnector1">
            <a:avLst/>
          </a:prstGeom>
          <a:noFill/>
          <a:ln cap="flat" cmpd="sng" w="317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" name="Google Shape;76;p17"/>
          <p:cNvCxnSpPr/>
          <p:nvPr/>
        </p:nvCxnSpPr>
        <p:spPr>
          <a:xfrm>
            <a:off x="6446520" y="2331720"/>
            <a:ext cx="274320" cy="960120"/>
          </a:xfrm>
          <a:prstGeom prst="straightConnector1">
            <a:avLst/>
          </a:prstGeom>
          <a:noFill/>
          <a:ln cap="flat" cmpd="sng" w="158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7" name="Google Shape;77;p17"/>
          <p:cNvCxnSpPr/>
          <p:nvPr/>
        </p:nvCxnSpPr>
        <p:spPr>
          <a:xfrm flipH="1">
            <a:off x="7200900" y="2331720"/>
            <a:ext cx="274320" cy="960120"/>
          </a:xfrm>
          <a:prstGeom prst="straightConnector1">
            <a:avLst/>
          </a:prstGeom>
          <a:noFill/>
          <a:ln cap="flat" cmpd="sng" w="158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8" name="Google Shape;78;p17"/>
          <p:cNvCxnSpPr/>
          <p:nvPr/>
        </p:nvCxnSpPr>
        <p:spPr>
          <a:xfrm>
            <a:off x="7475220" y="2331720"/>
            <a:ext cx="274320" cy="960120"/>
          </a:xfrm>
          <a:prstGeom prst="straightConnector1">
            <a:avLst/>
          </a:prstGeom>
          <a:noFill/>
          <a:ln cap="flat" cmpd="sng" w="158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9" name="Google Shape;79;p17"/>
          <p:cNvSpPr/>
          <p:nvPr/>
        </p:nvSpPr>
        <p:spPr>
          <a:xfrm>
            <a:off x="7358634" y="1255014"/>
            <a:ext cx="233172" cy="233172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/>
          <p:nvPr/>
        </p:nvSpPr>
        <p:spPr>
          <a:xfrm>
            <a:off x="6329934" y="2215134"/>
            <a:ext cx="233172" cy="233172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/>
          <p:nvPr/>
        </p:nvSpPr>
        <p:spPr>
          <a:xfrm>
            <a:off x="7358634" y="2215134"/>
            <a:ext cx="233172" cy="233172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/>
          <p:nvPr/>
        </p:nvSpPr>
        <p:spPr>
          <a:xfrm>
            <a:off x="8387334" y="2215134"/>
            <a:ext cx="233172" cy="233172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/>
          <p:nvPr/>
        </p:nvSpPr>
        <p:spPr>
          <a:xfrm>
            <a:off x="6055614" y="3175254"/>
            <a:ext cx="233172" cy="233172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/>
          <p:nvPr/>
        </p:nvSpPr>
        <p:spPr>
          <a:xfrm>
            <a:off x="6604254" y="3175254"/>
            <a:ext cx="233172" cy="233172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/>
          <p:nvPr/>
        </p:nvSpPr>
        <p:spPr>
          <a:xfrm>
            <a:off x="7084314" y="3175254"/>
            <a:ext cx="233172" cy="233172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/>
          <p:nvPr/>
        </p:nvSpPr>
        <p:spPr>
          <a:xfrm>
            <a:off x="7632954" y="3175254"/>
            <a:ext cx="233172" cy="233172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5897880" y="3600450"/>
            <a:ext cx="30175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f(n) = g(n) + h(n)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5897880" y="3943350"/>
            <a:ext cx="301752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Best path found by A*; dashed branches are pruned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411480" y="240030"/>
            <a:ext cx="8320811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</a:pPr>
            <a:r>
              <a:rPr b="1" lang="e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Problem Statement &amp; Abstract</a:t>
            </a:r>
            <a:endParaRPr sz="2400"/>
          </a:p>
        </p:txBody>
      </p:sp>
      <p:sp>
        <p:nvSpPr>
          <p:cNvPr id="95" name="Google Shape;95;p18"/>
          <p:cNvSpPr/>
          <p:nvPr/>
        </p:nvSpPr>
        <p:spPr>
          <a:xfrm>
            <a:off x="411480" y="960120"/>
            <a:ext cx="3840480" cy="2846070"/>
          </a:xfrm>
          <a:prstGeom prst="roundRect">
            <a:avLst>
              <a:gd fmla="val 2892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8"/>
          <p:cNvSpPr txBox="1"/>
          <p:nvPr/>
        </p:nvSpPr>
        <p:spPr>
          <a:xfrm>
            <a:off x="651510" y="1131570"/>
            <a:ext cx="34290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alibri"/>
              <a:buNone/>
            </a:pPr>
            <a:r>
              <a:rPr b="1" i="0" lang="en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651510" y="1405890"/>
            <a:ext cx="339471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Legal information is scattered across Acts, government portals and notifications.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Citizens describe the same issue in their own words, so exact-keyword FAQ search fails.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Chatbots that always return the closest answer can give unrelated, unsourced legal information.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651510" y="2914650"/>
            <a:ext cx="3394710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b="0" i="1" lang="en" sz="11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identify the legal category, retrieve the best entry with A* search, cite the law and source, and refuse unreliable matches.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4526280" y="99441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</a:pPr>
            <a:r>
              <a:rPr b="1" i="0" lang="en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ABSTRACT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4526280" y="1268730"/>
            <a:ext cx="4206011" cy="2537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AI-Based Legal Assistant answers general legal questions about common issues in India. A supervised-learning classifier (TF-IDF + Logistic Regression) estimates the probability of each legal category. These probabilities become the path cost g(n) of an A* search over a START → Category → Entry state space, guided by an admissible word-coverage heuristic h(n) that prunes categories that cannot beat the best answer. A reliability threshold rejects weak matches instead of returning unrelated advice. Every answer shows its Act/section and official source, and the full A* trace is displayed for transparency.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411480" y="3977640"/>
            <a:ext cx="1925898" cy="685800"/>
          </a:xfrm>
          <a:prstGeom prst="roundRect">
            <a:avLst>
              <a:gd fmla="val 1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/>
        </p:nvSpPr>
        <p:spPr>
          <a:xfrm>
            <a:off x="582930" y="4011930"/>
            <a:ext cx="1651578" cy="37719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mbria"/>
              <a:buNone/>
            </a:pPr>
            <a:r>
              <a:rPr b="1" i="0" lang="en" sz="20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81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582930" y="4389120"/>
            <a:ext cx="165157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curated legal entries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2543118" y="3977640"/>
            <a:ext cx="1925898" cy="685800"/>
          </a:xfrm>
          <a:prstGeom prst="roundRect">
            <a:avLst>
              <a:gd fmla="val 1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8"/>
          <p:cNvSpPr txBox="1"/>
          <p:nvPr/>
        </p:nvSpPr>
        <p:spPr>
          <a:xfrm>
            <a:off x="2714568" y="4011930"/>
            <a:ext cx="1651578" cy="37719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mbria"/>
              <a:buNone/>
            </a:pPr>
            <a:r>
              <a:rPr b="1" i="0" lang="en" sz="20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2714568" y="4389120"/>
            <a:ext cx="165157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areas of Indian law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4674756" y="3977640"/>
            <a:ext cx="1925898" cy="685800"/>
          </a:xfrm>
          <a:prstGeom prst="roundRect">
            <a:avLst>
              <a:gd fmla="val 1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 txBox="1"/>
          <p:nvPr/>
        </p:nvSpPr>
        <p:spPr>
          <a:xfrm>
            <a:off x="4846206" y="4011930"/>
            <a:ext cx="1651578" cy="37719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mbria"/>
              <a:buNone/>
            </a:pPr>
            <a:r>
              <a:rPr b="1" i="0" lang="en" sz="20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45%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4846206" y="4389120"/>
            <a:ext cx="165157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reliability threshold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6806393" y="3977640"/>
            <a:ext cx="1925898" cy="685800"/>
          </a:xfrm>
          <a:prstGeom prst="roundRect">
            <a:avLst>
              <a:gd fmla="val 1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 txBox="1"/>
          <p:nvPr/>
        </p:nvSpPr>
        <p:spPr>
          <a:xfrm>
            <a:off x="6977843" y="4011930"/>
            <a:ext cx="1651578" cy="37719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mbria"/>
              <a:buNone/>
            </a:pPr>
            <a:r>
              <a:rPr b="1" i="0" lang="en" sz="20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6.2 / 90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6977843" y="4389120"/>
            <a:ext cx="165157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nodes expanded by A* (avg.)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8"/>
          <p:cNvSpPr txBox="1"/>
          <p:nvPr>
            <p:ph idx="4294967295" type="sldNum"/>
          </p:nvPr>
        </p:nvSpPr>
        <p:spPr>
          <a:xfrm>
            <a:off x="8320811" y="483489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411480" y="240030"/>
            <a:ext cx="8320811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</a:pPr>
            <a:r>
              <a:rPr b="1" lang="e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Literature Survey (1/2)</a:t>
            </a:r>
            <a:endParaRPr sz="2400"/>
          </a:p>
        </p:txBody>
      </p:sp>
      <p:graphicFrame>
        <p:nvGraphicFramePr>
          <p:cNvPr id="120" name="Google Shape;120;p19"/>
          <p:cNvGraphicFramePr/>
          <p:nvPr/>
        </p:nvGraphicFramePr>
        <p:xfrm>
          <a:off x="411480" y="9258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{75D26A2D-541E-4E3C-B1B8-7C1CD5C33501}</a:tableStyleId>
              </a:tblPr>
              <a:tblGrid>
                <a:gridCol w="1748775"/>
                <a:gridCol w="1405875"/>
                <a:gridCol w="1303000"/>
                <a:gridCol w="1200150"/>
                <a:gridCol w="1234425"/>
                <a:gridCol w="142645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lt1"/>
                          </a:solidFill>
                        </a:rPr>
                        <a:t>Paper (title · authors · venue)</a:t>
                      </a:r>
                      <a:endParaRPr sz="900" u="none" cap="none" strike="noStrike"/>
                    </a:p>
                  </a:txBody>
                  <a:tcPr marT="48000" marB="48000" marR="54875" marL="54875" anchor="ctr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lt1"/>
                          </a:solidFill>
                        </a:rPr>
                        <a:t>Methodology</a:t>
                      </a:r>
                      <a:endParaRPr sz="900" u="none" cap="none" strike="noStrike"/>
                    </a:p>
                  </a:txBody>
                  <a:tcPr marT="48000" marB="48000" marR="54875" marL="54875" anchor="ctr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lt1"/>
                          </a:solidFill>
                        </a:rPr>
                        <a:t>Implementation</a:t>
                      </a:r>
                      <a:endParaRPr sz="900" u="none" cap="none" strike="noStrike"/>
                    </a:p>
                  </a:txBody>
                  <a:tcPr marT="48000" marB="48000" marR="54875" marL="54875" anchor="ctr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lt1"/>
                          </a:solidFill>
                        </a:rPr>
                        <a:t>Advantages (+)</a:t>
                      </a:r>
                      <a:endParaRPr sz="900" u="none" cap="none" strike="noStrike"/>
                    </a:p>
                  </a:txBody>
                  <a:tcPr marT="48000" marB="48000" marR="54875" marL="54875" anchor="ctr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lt1"/>
                          </a:solidFill>
                        </a:rPr>
                        <a:t>Limitations (−)</a:t>
                      </a:r>
                      <a:endParaRPr sz="900" u="none" cap="none" strike="noStrike"/>
                    </a:p>
                  </a:txBody>
                  <a:tcPr marT="48000" marB="48000" marR="54875" marL="54875" anchor="ctr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lt1"/>
                          </a:solidFill>
                        </a:rPr>
                        <a:t>How our project overcomes it</a:t>
                      </a:r>
                      <a:endParaRPr sz="900" u="none" cap="none" strike="noStrike"/>
                    </a:p>
                  </a:txBody>
                  <a:tcPr marT="48000" marB="48000" marR="54875" marL="54875" anchor="ctr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1110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dk1"/>
                          </a:solidFill>
                        </a:rPr>
                        <a:t>[1] A Formal Basis for the Heuristic Determination of Minimum Cost Paths</a:t>
                      </a:r>
                      <a:endParaRPr sz="9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900"/>
                        <a:buFont typeface="Calibri"/>
                        <a:buNone/>
                      </a:pPr>
                      <a:r>
                        <a:rPr i="1" lang="en" sz="900" u="none" cap="none" strike="noStrike">
                          <a:solidFill>
                            <a:schemeClr val="accent5"/>
                          </a:solidFill>
                        </a:rPr>
                        <a:t>P. E. Hart, N. J. Nilsson, B. Raphael — IEEE Trans. SSC, 1968</a:t>
                      </a:r>
                      <a:endParaRPr sz="900" u="none" cap="none" strike="noStrike"/>
                    </a:p>
                  </a:txBody>
                  <a:tcPr marT="48000" marB="48000" marR="54875" marL="54875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chemeClr val="dk2"/>
                          </a:solidFill>
                        </a:rPr>
                        <a:t>Best-first graph search ordered by f(n) = g(n) + h(n); proves optimality when h(n) never over-estimates (admissible).</a:t>
                      </a:r>
                      <a:endParaRPr sz="900" u="none" cap="none" strike="noStrike"/>
                    </a:p>
                  </a:txBody>
                  <a:tcPr marT="48000" marB="48000" marR="54875" marL="54875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chemeClr val="dk2"/>
                          </a:solidFill>
                        </a:rPr>
                        <a:t>Formal algorithm with proofs, evaluated on minimum-cost path finding in graphs.</a:t>
                      </a:r>
                      <a:endParaRPr sz="900" u="none" cap="none" strike="noStrike"/>
                    </a:p>
                  </a:txBody>
                  <a:tcPr marT="48000" marB="48000" marR="54875" marL="54875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chemeClr val="accent3"/>
                          </a:solidFill>
                        </a:rPr>
                        <a:t>Optimal and efficient; expands far fewer nodes than uninformed search.</a:t>
                      </a:r>
                      <a:endParaRPr sz="900" u="none" cap="none" strike="noStrike"/>
                    </a:p>
                  </a:txBody>
                  <a:tcPr marT="48000" marB="48000" marR="54875" marL="54875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chemeClr val="accent1"/>
                          </a:solidFill>
                        </a:rPr>
                        <a:t>Needs a good heuristic; open list can grow large; not designed for text retrieval.</a:t>
                      </a:r>
                      <a:endParaRPr sz="900" u="none" cap="none" strike="noStrike"/>
                    </a:p>
                  </a:txBody>
                  <a:tcPr marT="48000" marB="48000" marR="54875" marL="54875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dk1"/>
                          </a:solidFill>
                        </a:rPr>
                        <a:t>We apply A* to legal retrieval with an admissible word-coverage heuristic; the 90-node tree keeps memory trivial.</a:t>
                      </a:r>
                      <a:endParaRPr sz="900" u="none" cap="none" strike="noStrike"/>
                    </a:p>
                  </a:txBody>
                  <a:tcPr marT="48000" marB="48000" marR="54875" marL="54875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110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dk1"/>
                          </a:solidFill>
                        </a:rPr>
                        <a:t>[2] How Does NLP Benefit Legal System: A Summary of Legal Artificial Intelligence</a:t>
                      </a:r>
                      <a:endParaRPr sz="9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900"/>
                        <a:buFont typeface="Calibri"/>
                        <a:buNone/>
                      </a:pPr>
                      <a:r>
                        <a:rPr i="1" lang="en" sz="900" u="none" cap="none" strike="noStrike">
                          <a:solidFill>
                            <a:schemeClr val="accent5"/>
                          </a:solidFill>
                        </a:rPr>
                        <a:t>H. Zhong, C. Xiao, C. Tu, T. Zhang, Z. Liu, M. Sun — ACL 2020</a:t>
                      </a:r>
                      <a:endParaRPr sz="900" u="none" cap="none" strike="noStrike"/>
                    </a:p>
                  </a:txBody>
                  <a:tcPr marT="48000" marB="48000" marR="54875" marL="54875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chemeClr val="dk2"/>
                          </a:solidFill>
                        </a:rPr>
                        <a:t>Survey of embedding-based and symbol-based Legal AI; experiments on judgment prediction, similar-case matching and legal QA.</a:t>
                      </a:r>
                      <a:endParaRPr sz="900" u="none" cap="none" strike="noStrike"/>
                    </a:p>
                  </a:txBody>
                  <a:tcPr marT="48000" marB="48000" marR="54875" marL="54875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chemeClr val="dk2"/>
                          </a:solidFill>
                        </a:rPr>
                        <a:t>Benchmarked existing models on Chinese legal datasets (e.g. CAIL, JEC-QA).</a:t>
                      </a:r>
                      <a:endParaRPr sz="900" u="none" cap="none" strike="noStrike"/>
                    </a:p>
                  </a:txBody>
                  <a:tcPr marT="48000" marB="48000" marR="54875" marL="54875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chemeClr val="accent3"/>
                          </a:solidFill>
                        </a:rPr>
                        <a:t>Clear taxonomy of Legal AI; stresses interpretability and knowledge.</a:t>
                      </a:r>
                      <a:endParaRPr sz="900" u="none" cap="none" strike="noStrike"/>
                    </a:p>
                  </a:txBody>
                  <a:tcPr marT="48000" marB="48000" marR="54875" marL="54875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chemeClr val="accent1"/>
                          </a:solidFill>
                        </a:rPr>
                        <a:t>Chinese datasets; legal QA accuracy far below humans; black-box models lack explanations.</a:t>
                      </a:r>
                      <a:endParaRPr sz="900" u="none" cap="none" strike="noStrike"/>
                    </a:p>
                  </a:txBody>
                  <a:tcPr marT="48000" marB="48000" marR="54875" marL="54875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dk1"/>
                          </a:solidFill>
                        </a:rPr>
                        <a:t>Our assistant is explainable: shows path, g/h/f values, matched words, the Act and the source.</a:t>
                      </a:r>
                      <a:endParaRPr sz="900" u="none" cap="none" strike="noStrike"/>
                    </a:p>
                  </a:txBody>
                  <a:tcPr marT="48000" marB="48000" marR="54875" marL="54875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10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dk1"/>
                          </a:solidFill>
                        </a:rPr>
                        <a:t>[3] LEGAL-BERT: The Muppets straight out of Law School</a:t>
                      </a:r>
                      <a:endParaRPr sz="9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900"/>
                        <a:buFont typeface="Calibri"/>
                        <a:buNone/>
                      </a:pPr>
                      <a:r>
                        <a:rPr i="1" lang="en" sz="900" u="none" cap="none" strike="noStrike">
                          <a:solidFill>
                            <a:schemeClr val="accent5"/>
                          </a:solidFill>
                        </a:rPr>
                        <a:t>I. Chalkidis, M. Fergadiotis, P. Malakasiotis, N. Aletras, I. Androutsopoulos — Findings of EMNLP 2020</a:t>
                      </a:r>
                      <a:endParaRPr sz="900" u="none" cap="none" strike="noStrike"/>
                    </a:p>
                  </a:txBody>
                  <a:tcPr marT="48000" marB="48000" marR="54875" marL="54875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chemeClr val="dk2"/>
                          </a:solidFill>
                        </a:rPr>
                        <a:t>Further pre-training / pre-training BERT from scratch on ~12 GB of English legal text (legislation, cases, contracts).</a:t>
                      </a:r>
                      <a:endParaRPr sz="900" u="none" cap="none" strike="noStrike"/>
                    </a:p>
                  </a:txBody>
                  <a:tcPr marT="48000" marB="48000" marR="54875" marL="54875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chemeClr val="dk2"/>
                          </a:solidFill>
                        </a:rPr>
                        <a:t>Evaluated on legal text classification and sequence-tagging tasks (EU, UK, US data).</a:t>
                      </a:r>
                      <a:endParaRPr sz="900" u="none" cap="none" strike="noStrike"/>
                    </a:p>
                  </a:txBody>
                  <a:tcPr marT="48000" marB="48000" marR="54875" marL="54875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chemeClr val="accent3"/>
                          </a:solidFill>
                        </a:rPr>
                        <a:t>Better legal-language understanding than generic BERT; a small efficient variant.</a:t>
                      </a:r>
                      <a:endParaRPr sz="900" u="none" cap="none" strike="noStrike"/>
                    </a:p>
                  </a:txBody>
                  <a:tcPr marT="48000" marB="48000" marR="54875" marL="54875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chemeClr val="accent1"/>
                          </a:solidFill>
                        </a:rPr>
                        <a:t>Heavy compute (GPU); EU/US focus, not Indian law; outputs carry no citations.</a:t>
                      </a:r>
                      <a:endParaRPr sz="900" u="none" cap="none" strike="noStrike"/>
                    </a:p>
                  </a:txBody>
                  <a:tcPr marT="48000" marB="48000" marR="54875" marL="54875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dk1"/>
                          </a:solidFill>
                        </a:rPr>
                        <a:t>Lightweight TF-IDF + Logistic Regression runs on a laptop CPU; curated Indian knowledge base with sources.</a:t>
                      </a:r>
                      <a:endParaRPr sz="900" u="none" cap="none" strike="noStrike"/>
                    </a:p>
                  </a:txBody>
                  <a:tcPr marT="48000" marB="48000" marR="54875" marL="54875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121" name="Google Shape;121;p19"/>
          <p:cNvSpPr txBox="1"/>
          <p:nvPr>
            <p:ph idx="4294967295" type="sldNum"/>
          </p:nvPr>
        </p:nvSpPr>
        <p:spPr>
          <a:xfrm>
            <a:off x="8320811" y="483489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411480" y="240030"/>
            <a:ext cx="8320811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</a:pPr>
            <a:r>
              <a:rPr b="1" lang="e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Literature Survey (2/2)</a:t>
            </a:r>
            <a:endParaRPr sz="2400"/>
          </a:p>
        </p:txBody>
      </p:sp>
      <p:graphicFrame>
        <p:nvGraphicFramePr>
          <p:cNvPr id="128" name="Google Shape;128;p20"/>
          <p:cNvGraphicFramePr/>
          <p:nvPr/>
        </p:nvGraphicFramePr>
        <p:xfrm>
          <a:off x="411480" y="9258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{75D26A2D-541E-4E3C-B1B8-7C1CD5C33501}</a:tableStyleId>
              </a:tblPr>
              <a:tblGrid>
                <a:gridCol w="1748775"/>
                <a:gridCol w="1405875"/>
                <a:gridCol w="1303000"/>
                <a:gridCol w="1200150"/>
                <a:gridCol w="1234425"/>
                <a:gridCol w="142645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lt1"/>
                          </a:solidFill>
                        </a:rPr>
                        <a:t>Paper (title · authors · venue)</a:t>
                      </a:r>
                      <a:endParaRPr sz="900" u="none" cap="none" strike="noStrike"/>
                    </a:p>
                  </a:txBody>
                  <a:tcPr marT="48000" marB="48000" marR="54875" marL="54875" anchor="ctr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lt1"/>
                          </a:solidFill>
                        </a:rPr>
                        <a:t>Methodology</a:t>
                      </a:r>
                      <a:endParaRPr sz="900" u="none" cap="none" strike="noStrike"/>
                    </a:p>
                  </a:txBody>
                  <a:tcPr marT="48000" marB="48000" marR="54875" marL="54875" anchor="ctr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lt1"/>
                          </a:solidFill>
                        </a:rPr>
                        <a:t>Implementation</a:t>
                      </a:r>
                      <a:endParaRPr sz="900" u="none" cap="none" strike="noStrike"/>
                    </a:p>
                  </a:txBody>
                  <a:tcPr marT="48000" marB="48000" marR="54875" marL="54875" anchor="ctr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lt1"/>
                          </a:solidFill>
                        </a:rPr>
                        <a:t>Advantages (+)</a:t>
                      </a:r>
                      <a:endParaRPr sz="900" u="none" cap="none" strike="noStrike"/>
                    </a:p>
                  </a:txBody>
                  <a:tcPr marT="48000" marB="48000" marR="54875" marL="54875" anchor="ctr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lt1"/>
                          </a:solidFill>
                        </a:rPr>
                        <a:t>Limitations (−)</a:t>
                      </a:r>
                      <a:endParaRPr sz="900" u="none" cap="none" strike="noStrike"/>
                    </a:p>
                  </a:txBody>
                  <a:tcPr marT="48000" marB="48000" marR="54875" marL="54875" anchor="ctr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lt1"/>
                          </a:solidFill>
                        </a:rPr>
                        <a:t>How our project overcomes it</a:t>
                      </a:r>
                      <a:endParaRPr sz="900" u="none" cap="none" strike="noStrike"/>
                    </a:p>
                  </a:txBody>
                  <a:tcPr marT="48000" marB="48000" marR="54875" marL="54875" anchor="ctr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1110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dk1"/>
                          </a:solidFill>
                        </a:rPr>
                        <a:t>[4] Improving Access to Justice with Legal Chatbots</a:t>
                      </a:r>
                      <a:endParaRPr sz="9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900"/>
                        <a:buFont typeface="Calibri"/>
                        <a:buNone/>
                      </a:pPr>
                      <a:r>
                        <a:rPr i="1" lang="en" sz="900" u="none" cap="none" strike="noStrike">
                          <a:solidFill>
                            <a:schemeClr val="accent5"/>
                          </a:solidFill>
                        </a:rPr>
                        <a:t>M. Queudot, É. Charton, M.-J. Meurs — Stats 3(3), MDPI, 2020</a:t>
                      </a:r>
                      <a:endParaRPr sz="900" u="none" cap="none" strike="noStrike"/>
                    </a:p>
                  </a:txBody>
                  <a:tcPr marT="48000" marB="48000" marR="54875" marL="54875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chemeClr val="dk2"/>
                          </a:solidFill>
                        </a:rPr>
                        <a:t>Retrieval-based chatbots: StarSpace intent classifier (RASA), an IR-style StarSpace variant and fine-tuned BERT.</a:t>
                      </a:r>
                      <a:endParaRPr sz="900" u="none" cap="none" strike="noStrike"/>
                    </a:p>
                  </a:txBody>
                  <a:tcPr marT="48000" marB="48000" marR="54875" marL="54875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chemeClr val="dk2"/>
                          </a:solidFill>
                        </a:rPr>
                        <a:t>Immigration FAQ bot (1,088 pages, Canada) and internal legal bot for bank employees (275 FAQs).</a:t>
                      </a:r>
                      <a:endParaRPr sz="900" u="none" cap="none" strike="noStrike"/>
                    </a:p>
                  </a:txBody>
                  <a:tcPr marT="48000" marB="48000" marR="54875" marL="54875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chemeClr val="accent3"/>
                          </a:solidFill>
                        </a:rPr>
                        <a:t>Shows FAQ retrieval chatbots improve access to legal information; tested with real users.</a:t>
                      </a:r>
                      <a:endParaRPr sz="900" u="none" cap="none" strike="noStrike"/>
                    </a:p>
                  </a:txBody>
                  <a:tcPr marT="48000" marB="48000" marR="54875" marL="54875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chemeClr val="accent1"/>
                          </a:solidFill>
                        </a:rPr>
                        <a:t>Unseen vocabulary hurts retrieval; BERT is costly; small test sets; Canadian domain.</a:t>
                      </a:r>
                      <a:endParaRPr sz="900" u="none" cap="none" strike="noStrike"/>
                    </a:p>
                  </a:txBody>
                  <a:tcPr marT="48000" marB="48000" marR="54875" marL="54875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dk1"/>
                          </a:solidFill>
                        </a:rPr>
                        <a:t>Synonym normalisation + keywords handle new wording; threshold rejects weak matches; Indian law.</a:t>
                      </a:r>
                      <a:endParaRPr sz="900" u="none" cap="none" strike="noStrike"/>
                    </a:p>
                  </a:txBody>
                  <a:tcPr marT="48000" marB="48000" marR="54875" marL="54875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110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dk1"/>
                          </a:solidFill>
                        </a:rPr>
                        <a:t>[5] Pre-trained Language Models for the Legal Domain: A Case Study on Indian Law</a:t>
                      </a:r>
                      <a:endParaRPr sz="9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900"/>
                        <a:buFont typeface="Calibri"/>
                        <a:buNone/>
                      </a:pPr>
                      <a:r>
                        <a:rPr i="1" lang="en" sz="900" u="none" cap="none" strike="noStrike">
                          <a:solidFill>
                            <a:schemeClr val="accent5"/>
                          </a:solidFill>
                        </a:rPr>
                        <a:t>S. Paul, A. Mandal, P. Goyal, S. Ghosh — ICAIL 2023</a:t>
                      </a:r>
                      <a:endParaRPr sz="900" u="none" cap="none" strike="noStrike"/>
                    </a:p>
                  </a:txBody>
                  <a:tcPr marT="48000" marB="48000" marR="54875" marL="54875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chemeClr val="dk2"/>
                          </a:solidFill>
                        </a:rPr>
                        <a:t>Continued pre-training of LegalBERT / CaseLawBERT on ~5.4 M Indian legal documents (InLegalBERT, InCaseLawBERT).</a:t>
                      </a:r>
                      <a:endParaRPr sz="900" u="none" cap="none" strike="noStrike"/>
                    </a:p>
                  </a:txBody>
                  <a:tcPr marT="48000" marB="48000" marR="54875" marL="54875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chemeClr val="dk2"/>
                          </a:solidFill>
                        </a:rPr>
                        <a:t>Evaluated on statute identification, judgment segmentation and court-judgment prediction.</a:t>
                      </a:r>
                      <a:endParaRPr sz="900" u="none" cap="none" strike="noStrike"/>
                    </a:p>
                  </a:txBody>
                  <a:tcPr marT="48000" marB="48000" marR="54875" marL="54875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chemeClr val="accent3"/>
                          </a:solidFill>
                        </a:rPr>
                        <a:t>First Indian-law language models; improve results on Indian legal tasks.</a:t>
                      </a:r>
                      <a:endParaRPr sz="900" u="none" cap="none" strike="noStrike"/>
                    </a:p>
                  </a:txBody>
                  <a:tcPr marT="48000" marB="48000" marR="54875" marL="54875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chemeClr val="accent1"/>
                          </a:solidFill>
                        </a:rPr>
                        <a:t>Built for lawyers and judgments, not citizens; GPU-heavy; no plain-language answers.</a:t>
                      </a:r>
                      <a:endParaRPr sz="900" u="none" cap="none" strike="noStrike"/>
                    </a:p>
                  </a:txBody>
                  <a:tcPr marT="48000" marB="48000" marR="54875" marL="54875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dk1"/>
                          </a:solidFill>
                        </a:rPr>
                        <a:t>Citizen-facing, plain-language answers with the Act/section and official portal link.</a:t>
                      </a:r>
                      <a:endParaRPr sz="900" u="none" cap="none" strike="noStrike"/>
                    </a:p>
                  </a:txBody>
                  <a:tcPr marT="48000" marB="48000" marR="54875" marL="54875">
                    <a:lnL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6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29" name="Google Shape;129;p20"/>
          <p:cNvSpPr txBox="1"/>
          <p:nvPr>
            <p:ph idx="4294967295" type="sldNum"/>
          </p:nvPr>
        </p:nvSpPr>
        <p:spPr>
          <a:xfrm>
            <a:off x="8320811" y="483489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411480" y="240030"/>
            <a:ext cx="8320811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</a:pPr>
            <a:r>
              <a:rPr b="1" lang="e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System Architecture &amp; Working</a:t>
            </a:r>
            <a:endParaRPr sz="2400"/>
          </a:p>
        </p:txBody>
      </p:sp>
      <p:sp>
        <p:nvSpPr>
          <p:cNvPr id="136" name="Google Shape;136;p21"/>
          <p:cNvSpPr/>
          <p:nvPr/>
        </p:nvSpPr>
        <p:spPr>
          <a:xfrm>
            <a:off x="411480" y="994410"/>
            <a:ext cx="1179576" cy="720090"/>
          </a:xfrm>
          <a:prstGeom prst="roundRect">
            <a:avLst>
              <a:gd fmla="val 9524" name="adj"/>
            </a:avLst>
          </a:prstGeom>
          <a:solidFill>
            <a:schemeClr val="lt2"/>
          </a:solidFill>
          <a:ln>
            <a:noFill/>
          </a:ln>
          <a:effectLst>
            <a:outerShdw blurRad="101600" rotWithShape="0" algn="bl" dir="5400000" dist="25400">
              <a:srgbClr val="1B223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1"/>
          <p:cNvSpPr txBox="1"/>
          <p:nvPr/>
        </p:nvSpPr>
        <p:spPr>
          <a:xfrm>
            <a:off x="480060" y="994410"/>
            <a:ext cx="1042416" cy="72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question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Calibri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Web UI (HTML/CSS/JS)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1632204" y="1272159"/>
            <a:ext cx="164592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1"/>
          <p:cNvSpPr/>
          <p:nvPr/>
        </p:nvSpPr>
        <p:spPr>
          <a:xfrm>
            <a:off x="1837944" y="994410"/>
            <a:ext cx="1179576" cy="720090"/>
          </a:xfrm>
          <a:prstGeom prst="roundRect">
            <a:avLst>
              <a:gd fmla="val 9524" name="adj"/>
            </a:avLst>
          </a:prstGeom>
          <a:solidFill>
            <a:schemeClr val="lt2"/>
          </a:solidFill>
          <a:ln>
            <a:noFill/>
          </a:ln>
          <a:effectLst>
            <a:outerShdw blurRad="101600" rotWithShape="0" algn="bl" dir="5400000" dist="25400">
              <a:srgbClr val="1B223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1"/>
          <p:cNvSpPr txBox="1"/>
          <p:nvPr/>
        </p:nvSpPr>
        <p:spPr>
          <a:xfrm>
            <a:off x="1906524" y="994410"/>
            <a:ext cx="1042416" cy="72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processing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Calibri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normalise · stop words · stem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1"/>
          <p:cNvSpPr/>
          <p:nvPr/>
        </p:nvSpPr>
        <p:spPr>
          <a:xfrm>
            <a:off x="3058668" y="1272159"/>
            <a:ext cx="164592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1"/>
          <p:cNvSpPr/>
          <p:nvPr/>
        </p:nvSpPr>
        <p:spPr>
          <a:xfrm>
            <a:off x="3264408" y="994410"/>
            <a:ext cx="1179576" cy="720090"/>
          </a:xfrm>
          <a:prstGeom prst="roundRect">
            <a:avLst>
              <a:gd fmla="val 9524" name="adj"/>
            </a:avLst>
          </a:prstGeom>
          <a:solidFill>
            <a:schemeClr val="accent1"/>
          </a:solidFill>
          <a:ln>
            <a:noFill/>
          </a:ln>
          <a:effectLst>
            <a:outerShdw blurRad="101600" rotWithShape="0" algn="bl" dir="5400000" dist="25400">
              <a:srgbClr val="1B223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1"/>
          <p:cNvSpPr txBox="1"/>
          <p:nvPr/>
        </p:nvSpPr>
        <p:spPr>
          <a:xfrm>
            <a:off x="3332988" y="994410"/>
            <a:ext cx="1042416" cy="72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classifier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</a:pPr>
            <a:r>
              <a:rPr b="0" i="0" lang="en" sz="9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TF-IDF + Logistic Regression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4485132" y="1272159"/>
            <a:ext cx="164592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1"/>
          <p:cNvSpPr/>
          <p:nvPr/>
        </p:nvSpPr>
        <p:spPr>
          <a:xfrm>
            <a:off x="4690872" y="994410"/>
            <a:ext cx="1179576" cy="720090"/>
          </a:xfrm>
          <a:prstGeom prst="roundRect">
            <a:avLst>
              <a:gd fmla="val 9524" name="adj"/>
            </a:avLst>
          </a:prstGeom>
          <a:solidFill>
            <a:schemeClr val="accent1"/>
          </a:solidFill>
          <a:ln>
            <a:noFill/>
          </a:ln>
          <a:effectLst>
            <a:outerShdw blurRad="101600" rotWithShape="0" algn="bl" dir="5400000" dist="25400">
              <a:srgbClr val="1B223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1"/>
          <p:cNvSpPr txBox="1"/>
          <p:nvPr/>
        </p:nvSpPr>
        <p:spPr>
          <a:xfrm>
            <a:off x="4759452" y="994410"/>
            <a:ext cx="1042416" cy="72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A* search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</a:pPr>
            <a:r>
              <a:rPr b="0" i="0" lang="en" sz="9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START → Category → Entry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1"/>
          <p:cNvSpPr/>
          <p:nvPr/>
        </p:nvSpPr>
        <p:spPr>
          <a:xfrm>
            <a:off x="5911596" y="1272159"/>
            <a:ext cx="164592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1"/>
          <p:cNvSpPr/>
          <p:nvPr/>
        </p:nvSpPr>
        <p:spPr>
          <a:xfrm>
            <a:off x="6117336" y="994410"/>
            <a:ext cx="1179576" cy="720090"/>
          </a:xfrm>
          <a:prstGeom prst="roundRect">
            <a:avLst>
              <a:gd fmla="val 9524" name="adj"/>
            </a:avLst>
          </a:prstGeom>
          <a:solidFill>
            <a:schemeClr val="lt2"/>
          </a:solidFill>
          <a:ln>
            <a:noFill/>
          </a:ln>
          <a:effectLst>
            <a:outerShdw blurRad="101600" rotWithShape="0" algn="bl" dir="5400000" dist="25400">
              <a:srgbClr val="1B223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1"/>
          <p:cNvSpPr txBox="1"/>
          <p:nvPr/>
        </p:nvSpPr>
        <p:spPr>
          <a:xfrm>
            <a:off x="6185916" y="994410"/>
            <a:ext cx="1042416" cy="72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Reliability check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Calibri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match ≥ 45% 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1"/>
          <p:cNvSpPr/>
          <p:nvPr/>
        </p:nvSpPr>
        <p:spPr>
          <a:xfrm>
            <a:off x="7338060" y="1272159"/>
            <a:ext cx="164592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1"/>
          <p:cNvSpPr/>
          <p:nvPr/>
        </p:nvSpPr>
        <p:spPr>
          <a:xfrm>
            <a:off x="7543800" y="994410"/>
            <a:ext cx="1179576" cy="720090"/>
          </a:xfrm>
          <a:prstGeom prst="roundRect">
            <a:avLst>
              <a:gd fmla="val 9524" name="adj"/>
            </a:avLst>
          </a:prstGeom>
          <a:solidFill>
            <a:schemeClr val="lt2"/>
          </a:solidFill>
          <a:ln>
            <a:noFill/>
          </a:ln>
          <a:effectLst>
            <a:outerShdw blurRad="101600" rotWithShape="0" algn="bl" dir="5400000" dist="25400">
              <a:srgbClr val="1B223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1"/>
          <p:cNvSpPr txBox="1"/>
          <p:nvPr/>
        </p:nvSpPr>
        <p:spPr>
          <a:xfrm>
            <a:off x="7612380" y="994410"/>
            <a:ext cx="1042416" cy="72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Calibri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answer · Act · source · trace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21"/>
          <p:cNvCxnSpPr/>
          <p:nvPr/>
        </p:nvCxnSpPr>
        <p:spPr>
          <a:xfrm>
            <a:off x="5280660" y="1714500"/>
            <a:ext cx="0" cy="27432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54" name="Google Shape;154;p21"/>
          <p:cNvSpPr/>
          <p:nvPr/>
        </p:nvSpPr>
        <p:spPr>
          <a:xfrm>
            <a:off x="4588002" y="1988820"/>
            <a:ext cx="1385316" cy="582930"/>
          </a:xfrm>
          <a:prstGeom prst="can">
            <a:avLst>
              <a:gd fmla="val 25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1"/>
          <p:cNvSpPr txBox="1"/>
          <p:nvPr/>
        </p:nvSpPr>
        <p:spPr>
          <a:xfrm>
            <a:off x="4588002" y="2091690"/>
            <a:ext cx="1385316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1" i="0" lang="en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Legal knowledge base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81 entries · 8 categories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21"/>
          <p:cNvCxnSpPr/>
          <p:nvPr/>
        </p:nvCxnSpPr>
        <p:spPr>
          <a:xfrm>
            <a:off x="6707124" y="1714500"/>
            <a:ext cx="0" cy="27432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7" name="Google Shape;157;p21"/>
          <p:cNvSpPr/>
          <p:nvPr/>
        </p:nvSpPr>
        <p:spPr>
          <a:xfrm>
            <a:off x="6117336" y="1988820"/>
            <a:ext cx="1179576" cy="411480"/>
          </a:xfrm>
          <a:prstGeom prst="roundRect">
            <a:avLst>
              <a:gd fmla="val 13333" name="adj"/>
            </a:avLst>
          </a:prstGeom>
          <a:solidFill>
            <a:schemeClr val="lt1"/>
          </a:solidFill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1"/>
          <p:cNvSpPr txBox="1"/>
          <p:nvPr/>
        </p:nvSpPr>
        <p:spPr>
          <a:xfrm>
            <a:off x="6117336" y="1988820"/>
            <a:ext cx="11795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Calibri"/>
              <a:buNone/>
            </a:pPr>
            <a:r>
              <a:rPr b="1" i="0" lang="en" sz="9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No → politely refuse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1"/>
          <p:cNvSpPr/>
          <p:nvPr/>
        </p:nvSpPr>
        <p:spPr>
          <a:xfrm>
            <a:off x="411480" y="2708910"/>
            <a:ext cx="2636444" cy="1954530"/>
          </a:xfrm>
          <a:prstGeom prst="roundRect">
            <a:avLst>
              <a:gd fmla="val 3509" name="adj"/>
            </a:avLst>
          </a:prstGeom>
          <a:solidFill>
            <a:schemeClr val="lt1"/>
          </a:solidFill>
          <a:ln cap="flat" cmpd="sng" w="12700">
            <a:solidFill>
              <a:srgbClr val="E4D6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23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1"/>
          <p:cNvSpPr txBox="1"/>
          <p:nvPr/>
        </p:nvSpPr>
        <p:spPr>
          <a:xfrm>
            <a:off x="582930" y="2811780"/>
            <a:ext cx="2293544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A* formulation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1"/>
          <p:cNvSpPr txBox="1"/>
          <p:nvPr/>
        </p:nvSpPr>
        <p:spPr>
          <a:xfrm>
            <a:off x="582930" y="3154680"/>
            <a:ext cx="2293544" cy="1405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States:  </a:t>
            </a:r>
            <a:r>
              <a:rPr b="0" i="0" lang="en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START, 8 categories, 81 entries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g(n):  </a:t>
            </a:r>
            <a:r>
              <a:rPr b="0" i="0" lang="en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0.6·(1 − P(category)) + (1 − match)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h(n):  </a:t>
            </a:r>
            <a:r>
              <a:rPr b="0" i="0" lang="en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1 − best possible match in category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Goal:  </a:t>
            </a:r>
            <a:r>
              <a:rPr b="0" i="0" lang="en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knowledge-base entry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f(n):  </a:t>
            </a:r>
            <a:r>
              <a:rPr b="0" i="0" lang="en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g(n) + h(n), lowest expanded first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1"/>
          <p:cNvSpPr/>
          <p:nvPr/>
        </p:nvSpPr>
        <p:spPr>
          <a:xfrm>
            <a:off x="3253664" y="2708910"/>
            <a:ext cx="2636444" cy="1954530"/>
          </a:xfrm>
          <a:prstGeom prst="roundRect">
            <a:avLst>
              <a:gd fmla="val 3509" name="adj"/>
            </a:avLst>
          </a:prstGeom>
          <a:solidFill>
            <a:schemeClr val="lt1"/>
          </a:solidFill>
          <a:ln cap="flat" cmpd="sng" w="12700">
            <a:solidFill>
              <a:srgbClr val="E4D6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23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1"/>
          <p:cNvSpPr txBox="1"/>
          <p:nvPr/>
        </p:nvSpPr>
        <p:spPr>
          <a:xfrm>
            <a:off x="3425113" y="2811780"/>
            <a:ext cx="2293544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Example: “Someone hacked my account”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1"/>
          <p:cNvSpPr txBox="1"/>
          <p:nvPr/>
        </p:nvSpPr>
        <p:spPr>
          <a:xfrm>
            <a:off x="3425113" y="3154680"/>
            <a:ext cx="2293544" cy="1405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Classifier:  </a:t>
            </a:r>
            <a:r>
              <a:rPr b="0" i="0" lang="en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P(Cybercrime) = 0.66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Category node:  </a:t>
            </a:r>
            <a:r>
              <a:rPr b="0" i="0" lang="en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 = 0.21, h = 0.00, f = 0.21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entry:  </a:t>
            </a:r>
            <a:r>
              <a:rPr b="0" i="0" lang="en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match 100% → IT Act s.66C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Pruned:  </a:t>
            </a:r>
            <a:r>
              <a:rPr b="0" i="0" lang="en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 of 8 categories never expanded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  </a:t>
            </a:r>
            <a:r>
              <a:rPr b="0" i="0" lang="en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answer + cybercrime.gov.in + 1930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1"/>
          <p:cNvSpPr/>
          <p:nvPr/>
        </p:nvSpPr>
        <p:spPr>
          <a:xfrm>
            <a:off x="6095848" y="2708910"/>
            <a:ext cx="2636444" cy="1954530"/>
          </a:xfrm>
          <a:prstGeom prst="roundRect">
            <a:avLst>
              <a:gd fmla="val 3509" name="adj"/>
            </a:avLst>
          </a:prstGeom>
          <a:solidFill>
            <a:schemeClr val="lt1"/>
          </a:solidFill>
          <a:ln cap="flat" cmpd="sng" w="12700">
            <a:solidFill>
              <a:srgbClr val="E4D6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230">
                <a:alpha val="1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1"/>
          <p:cNvSpPr txBox="1"/>
          <p:nvPr/>
        </p:nvSpPr>
        <p:spPr>
          <a:xfrm>
            <a:off x="6267298" y="2811780"/>
            <a:ext cx="2293544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Technology stack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1"/>
          <p:cNvSpPr txBox="1"/>
          <p:nvPr/>
        </p:nvSpPr>
        <p:spPr>
          <a:xfrm>
            <a:off x="6267298" y="3154680"/>
            <a:ext cx="2293544" cy="1405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Language:  </a:t>
            </a:r>
            <a:r>
              <a:rPr b="0" i="0" lang="en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Python 3.12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Backend:  </a:t>
            </a:r>
            <a:r>
              <a:rPr b="0" i="0" lang="en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Flask (JSON API)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/ ML:  </a:t>
            </a:r>
            <a:r>
              <a:rPr b="0" i="0" lang="en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scikit-learn, pandas, NumPy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Frontend:  </a:t>
            </a:r>
            <a:r>
              <a:rPr b="0" i="0" lang="en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HTML5, CSS3, JavaScript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Data:  </a:t>
            </a:r>
            <a:r>
              <a:rPr b="0" i="0" lang="en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CSV knowledge base + test set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1"/>
          <p:cNvSpPr txBox="1"/>
          <p:nvPr>
            <p:ph idx="4294967295" type="sldNum"/>
          </p:nvPr>
        </p:nvSpPr>
        <p:spPr>
          <a:xfrm>
            <a:off x="8320811" y="483489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 txBox="1"/>
          <p:nvPr>
            <p:ph type="title"/>
          </p:nvPr>
        </p:nvSpPr>
        <p:spPr>
          <a:xfrm>
            <a:off x="411480" y="240030"/>
            <a:ext cx="8320811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</a:pPr>
            <a:r>
              <a:rPr b="1" lang="e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Implementation — Modules 1 to 3</a:t>
            </a:r>
            <a:endParaRPr sz="2400"/>
          </a:p>
        </p:txBody>
      </p:sp>
      <p:sp>
        <p:nvSpPr>
          <p:cNvPr id="175" name="Google Shape;175;p22"/>
          <p:cNvSpPr/>
          <p:nvPr/>
        </p:nvSpPr>
        <p:spPr>
          <a:xfrm>
            <a:off x="411480" y="925830"/>
            <a:ext cx="2636444" cy="3771900"/>
          </a:xfrm>
          <a:prstGeom prst="roundRect">
            <a:avLst>
              <a:gd fmla="val 312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2"/>
          <p:cNvSpPr/>
          <p:nvPr/>
        </p:nvSpPr>
        <p:spPr>
          <a:xfrm>
            <a:off x="617220" y="1131570"/>
            <a:ext cx="425196" cy="4251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2"/>
          <p:cNvSpPr txBox="1"/>
          <p:nvPr/>
        </p:nvSpPr>
        <p:spPr>
          <a:xfrm>
            <a:off x="617220" y="1131570"/>
            <a:ext cx="425196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mbria"/>
              <a:buNone/>
            </a:pPr>
            <a:r>
              <a:rPr b="1" i="0" lang="en" sz="15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2"/>
          <p:cNvSpPr txBox="1"/>
          <p:nvPr/>
        </p:nvSpPr>
        <p:spPr>
          <a:xfrm>
            <a:off x="1131570" y="1076706"/>
            <a:ext cx="174490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Text Processing &amp; AI Classification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2"/>
          <p:cNvSpPr txBox="1"/>
          <p:nvPr/>
        </p:nvSpPr>
        <p:spPr>
          <a:xfrm>
            <a:off x="617220" y="1680210"/>
            <a:ext cx="22249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Courier New"/>
              <a:buNone/>
            </a:pPr>
            <a:r>
              <a:rPr b="0" i="0" lang="en" sz="9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preprocessing.py · classifier.py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2"/>
          <p:cNvSpPr txBox="1"/>
          <p:nvPr/>
        </p:nvSpPr>
        <p:spPr>
          <a:xfrm>
            <a:off x="617220" y="1988820"/>
            <a:ext cx="2224964" cy="1954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035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Lower-case, synonym normalisation (hacked → hack, license → licence), stop-word removal, light stemming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TF-IDF features (uni + bi-grams) with Logistic Regression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Learns from 160 labelled questions + knowledge-base questions/keywords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Outputs P(category | question) for all 8 categories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2"/>
          <p:cNvSpPr/>
          <p:nvPr/>
        </p:nvSpPr>
        <p:spPr>
          <a:xfrm>
            <a:off x="617220" y="4011930"/>
            <a:ext cx="2224964" cy="514350"/>
          </a:xfrm>
          <a:prstGeom prst="roundRect">
            <a:avLst>
              <a:gd fmla="val 10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2"/>
          <p:cNvSpPr txBox="1"/>
          <p:nvPr/>
        </p:nvSpPr>
        <p:spPr>
          <a:xfrm>
            <a:off x="720090" y="4011930"/>
            <a:ext cx="2019224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100% category accuracy on 40 held-out test questions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3253664" y="925830"/>
            <a:ext cx="2636444" cy="3771900"/>
          </a:xfrm>
          <a:prstGeom prst="roundRect">
            <a:avLst>
              <a:gd fmla="val 312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2"/>
          <p:cNvSpPr/>
          <p:nvPr/>
        </p:nvSpPr>
        <p:spPr>
          <a:xfrm>
            <a:off x="3459404" y="1131570"/>
            <a:ext cx="425196" cy="4251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2"/>
          <p:cNvSpPr txBox="1"/>
          <p:nvPr/>
        </p:nvSpPr>
        <p:spPr>
          <a:xfrm>
            <a:off x="3459404" y="1131570"/>
            <a:ext cx="425196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mbria"/>
              <a:buNone/>
            </a:pPr>
            <a:r>
              <a:rPr b="1" i="0" lang="en" sz="15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3973754" y="1076706"/>
            <a:ext cx="1744903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A* Search Engine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2"/>
          <p:cNvSpPr txBox="1"/>
          <p:nvPr/>
        </p:nvSpPr>
        <p:spPr>
          <a:xfrm>
            <a:off x="3459403" y="1680210"/>
            <a:ext cx="22249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Courier New"/>
              <a:buNone/>
            </a:pPr>
            <a:r>
              <a:rPr b="0" i="0" lang="en" sz="9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astar_search.py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2"/>
          <p:cNvSpPr txBox="1"/>
          <p:nvPr/>
        </p:nvSpPr>
        <p:spPr>
          <a:xfrm>
            <a:off x="3459403" y="1988820"/>
            <a:ext cx="2224964" cy="1954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035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Problem formulation: START → CATEGORY → ENTRY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Open list (priority queue on f), closed list, path reconstruction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g(n) from classifier cost + text-match cost; admissible h(n) from category word coverage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Continues after the first goal to return the next 3 best entries as related questions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2"/>
          <p:cNvSpPr/>
          <p:nvPr/>
        </p:nvSpPr>
        <p:spPr>
          <a:xfrm>
            <a:off x="3459403" y="4011930"/>
            <a:ext cx="2224964" cy="514350"/>
          </a:xfrm>
          <a:prstGeom prst="roundRect">
            <a:avLst>
              <a:gd fmla="val 10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2"/>
          <p:cNvSpPr txBox="1"/>
          <p:nvPr/>
        </p:nvSpPr>
        <p:spPr>
          <a:xfrm>
            <a:off x="3562274" y="4011930"/>
            <a:ext cx="2019224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Avg. 6.2 of 90 nodes expanded; 7 of 8 categories pruned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6095848" y="925830"/>
            <a:ext cx="2636444" cy="3771900"/>
          </a:xfrm>
          <a:prstGeom prst="roundRect">
            <a:avLst>
              <a:gd fmla="val 312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2"/>
          <p:cNvSpPr/>
          <p:nvPr/>
        </p:nvSpPr>
        <p:spPr>
          <a:xfrm>
            <a:off x="6301588" y="1131570"/>
            <a:ext cx="425196" cy="4251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2"/>
          <p:cNvSpPr txBox="1"/>
          <p:nvPr/>
        </p:nvSpPr>
        <p:spPr>
          <a:xfrm>
            <a:off x="6301588" y="1131570"/>
            <a:ext cx="425196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mbria"/>
              <a:buNone/>
            </a:pPr>
            <a:r>
              <a:rPr b="1" i="0" lang="en" sz="15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2"/>
          <p:cNvSpPr txBox="1"/>
          <p:nvPr/>
        </p:nvSpPr>
        <p:spPr>
          <a:xfrm>
            <a:off x="6815938" y="1076706"/>
            <a:ext cx="174490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Reliability Check &amp; Web Application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2"/>
          <p:cNvSpPr txBox="1"/>
          <p:nvPr/>
        </p:nvSpPr>
        <p:spPr>
          <a:xfrm>
            <a:off x="6301588" y="1680210"/>
            <a:ext cx="2224963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Courier New"/>
              <a:buNone/>
            </a:pPr>
            <a:r>
              <a:rPr b="0" i="0" lang="en" sz="9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retrieval.py · agent.py · app.py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2"/>
          <p:cNvSpPr txBox="1"/>
          <p:nvPr/>
        </p:nvSpPr>
        <p:spPr>
          <a:xfrm>
            <a:off x="6301588" y="1988820"/>
            <a:ext cx="2224963" cy="1954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035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Rejects answers below 45% match or with no specific word matched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Agent cycle: percept → classify → search → 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Flask JSON API; chat UI with category filter, A* trace, feedback, dark mode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Shows Act/section, official source link and verification date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6301588" y="4011930"/>
            <a:ext cx="2224963" cy="514350"/>
          </a:xfrm>
          <a:prstGeom prst="roundRect">
            <a:avLst>
              <a:gd fmla="val 10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6404458" y="4011930"/>
            <a:ext cx="2019224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8 / 8 report test cases passed (incl. 2 correct rejections)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2"/>
          <p:cNvSpPr txBox="1"/>
          <p:nvPr>
            <p:ph idx="4294967295" type="sldNum"/>
          </p:nvPr>
        </p:nvSpPr>
        <p:spPr>
          <a:xfrm>
            <a:off x="8320811" y="483489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3"/>
          <p:cNvSpPr txBox="1"/>
          <p:nvPr>
            <p:ph type="title"/>
          </p:nvPr>
        </p:nvSpPr>
        <p:spPr>
          <a:xfrm>
            <a:off x="411480" y="240030"/>
            <a:ext cx="8320811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</a:pPr>
            <a:r>
              <a:rPr b="1" lang="e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Output Screenshots</a:t>
            </a:r>
            <a:endParaRPr sz="2400"/>
          </a:p>
        </p:txBody>
      </p:sp>
      <p:sp>
        <p:nvSpPr>
          <p:cNvPr id="206" name="Google Shape;206;p23"/>
          <p:cNvSpPr/>
          <p:nvPr/>
        </p:nvSpPr>
        <p:spPr>
          <a:xfrm>
            <a:off x="411480" y="891540"/>
            <a:ext cx="4023246" cy="1714500"/>
          </a:xfrm>
          <a:prstGeom prst="roundRect">
            <a:avLst>
              <a:gd fmla="val 32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Home screen — 8 legal categories, search scope and sample questions" id="207" name="Google Shape;20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367" y="925830"/>
            <a:ext cx="2633472" cy="164592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5400000" dist="25400">
              <a:srgbClr val="1B2230">
                <a:alpha val="12157"/>
              </a:srgbClr>
            </a:outerShdw>
          </a:effectLst>
        </p:spPr>
      </p:pic>
      <p:sp>
        <p:nvSpPr>
          <p:cNvPr id="208" name="Google Shape;208;p23"/>
          <p:cNvSpPr txBox="1"/>
          <p:nvPr/>
        </p:nvSpPr>
        <p:spPr>
          <a:xfrm>
            <a:off x="411480" y="2619756"/>
            <a:ext cx="40232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Home screen — 8 legal categories, search scope and sample questions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4709046" y="891540"/>
            <a:ext cx="4023246" cy="1714500"/>
          </a:xfrm>
          <a:prstGeom prst="roundRect">
            <a:avLst>
              <a:gd fmla="val 32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nswer with legal reference, official source, confidence and match score" id="210" name="Google Shape;21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1046" y="925830"/>
            <a:ext cx="2019246" cy="164592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5400000" dist="25400">
              <a:srgbClr val="1B2230">
                <a:alpha val="12157"/>
              </a:srgbClr>
            </a:outerShdw>
          </a:effectLst>
        </p:spPr>
      </p:pic>
      <p:sp>
        <p:nvSpPr>
          <p:cNvPr id="211" name="Google Shape;211;p23"/>
          <p:cNvSpPr txBox="1"/>
          <p:nvPr/>
        </p:nvSpPr>
        <p:spPr>
          <a:xfrm>
            <a:off x="4709046" y="2619756"/>
            <a:ext cx="40232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Answer with legal reference, official source, confidence and match score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411480" y="2846070"/>
            <a:ext cx="4023246" cy="1714500"/>
          </a:xfrm>
          <a:prstGeom prst="roundRect">
            <a:avLst>
              <a:gd fmla="val 32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* trace — optimal path, matched words, expanded and pruned nodes" id="213" name="Google Shape;21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68121" y="2880360"/>
            <a:ext cx="2309963" cy="164592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5400000" dist="25400">
              <a:srgbClr val="1B2230">
                <a:alpha val="12157"/>
              </a:srgbClr>
            </a:outerShdw>
          </a:effectLst>
        </p:spPr>
      </p:pic>
      <p:sp>
        <p:nvSpPr>
          <p:cNvPr id="214" name="Google Shape;214;p23"/>
          <p:cNvSpPr txBox="1"/>
          <p:nvPr/>
        </p:nvSpPr>
        <p:spPr>
          <a:xfrm>
            <a:off x="411480" y="4574286"/>
            <a:ext cx="40232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A* trace — optimal path, matched words, expanded and pruned nodes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4709046" y="2846070"/>
            <a:ext cx="4023246" cy="1714500"/>
          </a:xfrm>
          <a:prstGeom prst="roundRect">
            <a:avLst>
              <a:gd fmla="val 32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ut-of-scope question (divorce) safely rejected below the threshold" id="216" name="Google Shape;21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77626" y="3086517"/>
            <a:ext cx="3886086" cy="1233606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5400000" dist="25400">
              <a:srgbClr val="1B2230">
                <a:alpha val="12157"/>
              </a:srgbClr>
            </a:outerShdw>
          </a:effectLst>
        </p:spPr>
      </p:pic>
      <p:sp>
        <p:nvSpPr>
          <p:cNvPr id="217" name="Google Shape;217;p23"/>
          <p:cNvSpPr txBox="1"/>
          <p:nvPr/>
        </p:nvSpPr>
        <p:spPr>
          <a:xfrm>
            <a:off x="4709046" y="4574286"/>
            <a:ext cx="40232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Out-of-scope question (divorce) safely rejected below the threshold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 txBox="1"/>
          <p:nvPr>
            <p:ph idx="4294967295" type="sldNum"/>
          </p:nvPr>
        </p:nvSpPr>
        <p:spPr>
          <a:xfrm>
            <a:off x="8320811" y="483489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"/>
          <p:cNvSpPr txBox="1"/>
          <p:nvPr>
            <p:ph type="title"/>
          </p:nvPr>
        </p:nvSpPr>
        <p:spPr>
          <a:xfrm>
            <a:off x="411480" y="240030"/>
            <a:ext cx="8320811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</a:pPr>
            <a:r>
              <a:rPr b="1" lang="e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Conclusion &amp; Future Enhancements</a:t>
            </a:r>
            <a:endParaRPr sz="2400"/>
          </a:p>
        </p:txBody>
      </p:sp>
      <p:sp>
        <p:nvSpPr>
          <p:cNvPr id="225" name="Google Shape;225;p24"/>
          <p:cNvSpPr txBox="1"/>
          <p:nvPr/>
        </p:nvSpPr>
        <p:spPr>
          <a:xfrm>
            <a:off x="411480" y="96012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4"/>
          <p:cNvSpPr txBox="1"/>
          <p:nvPr/>
        </p:nvSpPr>
        <p:spPr>
          <a:xfrm>
            <a:off x="411480" y="1234440"/>
            <a:ext cx="125730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mbria"/>
              <a:buNone/>
            </a:pPr>
            <a:r>
              <a:rPr b="1" i="0" lang="en" sz="24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8/8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4"/>
          <p:cNvSpPr txBox="1"/>
          <p:nvPr/>
        </p:nvSpPr>
        <p:spPr>
          <a:xfrm>
            <a:off x="411480" y="1680210"/>
            <a:ext cx="12573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report test cases passed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4"/>
          <p:cNvSpPr txBox="1"/>
          <p:nvPr/>
        </p:nvSpPr>
        <p:spPr>
          <a:xfrm>
            <a:off x="1840230" y="1234440"/>
            <a:ext cx="125730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mbria"/>
              <a:buNone/>
            </a:pPr>
            <a:r>
              <a:rPr b="1" i="0" lang="en" sz="24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40/40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4"/>
          <p:cNvSpPr txBox="1"/>
          <p:nvPr/>
        </p:nvSpPr>
        <p:spPr>
          <a:xfrm>
            <a:off x="1840230" y="1680210"/>
            <a:ext cx="12573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test questions answered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4"/>
          <p:cNvSpPr txBox="1"/>
          <p:nvPr/>
        </p:nvSpPr>
        <p:spPr>
          <a:xfrm>
            <a:off x="3268980" y="1234440"/>
            <a:ext cx="125730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mbria"/>
              <a:buNone/>
            </a:pPr>
            <a:r>
              <a:rPr b="1" i="0" lang="en" sz="24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93%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4"/>
          <p:cNvSpPr txBox="1"/>
          <p:nvPr/>
        </p:nvSpPr>
        <p:spPr>
          <a:xfrm>
            <a:off x="3268980" y="1680210"/>
            <a:ext cx="12573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of nodes never expanded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4"/>
          <p:cNvSpPr txBox="1"/>
          <p:nvPr/>
        </p:nvSpPr>
        <p:spPr>
          <a:xfrm>
            <a:off x="411480" y="2091690"/>
            <a:ext cx="4114800" cy="2537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Combined supervised learning (Unit V) with A* informed search (Unit II) inside an intelligent agent (Unit I).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Admissible heuristic guarantees the optimal entry while pruning most of the search space.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Reliability threshold prevents unrelated legal answers; every answer cites the law and an official source.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Transparent: the A* trace explains why an answer was chosen.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4"/>
          <p:cNvSpPr/>
          <p:nvPr/>
        </p:nvSpPr>
        <p:spPr>
          <a:xfrm>
            <a:off x="4869180" y="925830"/>
            <a:ext cx="3863111" cy="3737610"/>
          </a:xfrm>
          <a:prstGeom prst="roundRect">
            <a:avLst>
              <a:gd fmla="val 2202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5109210" y="1097280"/>
            <a:ext cx="3383051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FUTURE ENHANCEMENTS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4"/>
          <p:cNvSpPr/>
          <p:nvPr/>
        </p:nvSpPr>
        <p:spPr>
          <a:xfrm>
            <a:off x="5109210" y="1474470"/>
            <a:ext cx="342900" cy="342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5109210" y="147447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4"/>
          <p:cNvSpPr txBox="1"/>
          <p:nvPr/>
        </p:nvSpPr>
        <p:spPr>
          <a:xfrm>
            <a:off x="5589270" y="1440180"/>
            <a:ext cx="293728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Multilingual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Tamil, Hindi and other Indian languages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4"/>
          <p:cNvSpPr/>
          <p:nvPr/>
        </p:nvSpPr>
        <p:spPr>
          <a:xfrm>
            <a:off x="5109210" y="2091690"/>
            <a:ext cx="342900" cy="342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5109210" y="209169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4"/>
          <p:cNvSpPr txBox="1"/>
          <p:nvPr/>
        </p:nvSpPr>
        <p:spPr>
          <a:xfrm>
            <a:off x="5589270" y="2057400"/>
            <a:ext cx="293728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Voice input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speak a question, hear the answer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5109210" y="2708910"/>
            <a:ext cx="342900" cy="342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5109210" y="270891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4"/>
          <p:cNvSpPr txBox="1"/>
          <p:nvPr/>
        </p:nvSpPr>
        <p:spPr>
          <a:xfrm>
            <a:off x="5589270" y="2674620"/>
            <a:ext cx="293728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Larger knowledge base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more Acts, states and procedures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5109210" y="3326130"/>
            <a:ext cx="342900" cy="342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5109210" y="332613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4"/>
          <p:cNvSpPr txBox="1"/>
          <p:nvPr/>
        </p:nvSpPr>
        <p:spPr>
          <a:xfrm>
            <a:off x="5589270" y="3291840"/>
            <a:ext cx="293728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Auto-verification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periodic checks against India Code and gov portals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5109210" y="3943350"/>
            <a:ext cx="342900" cy="342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5109210" y="394335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/>
          <p:cNvSpPr txBox="1"/>
          <p:nvPr/>
        </p:nvSpPr>
        <p:spPr>
          <a:xfrm>
            <a:off x="5589270" y="3909060"/>
            <a:ext cx="293728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Document search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A* over sections of uploaded Acts and notices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 txBox="1"/>
          <p:nvPr>
            <p:ph idx="4294967295" type="sldNum"/>
          </p:nvPr>
        </p:nvSpPr>
        <p:spPr>
          <a:xfrm>
            <a:off x="8320811" y="483489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5"/>
          <p:cNvSpPr txBox="1"/>
          <p:nvPr>
            <p:ph type="title"/>
          </p:nvPr>
        </p:nvSpPr>
        <p:spPr>
          <a:xfrm>
            <a:off x="411480" y="240030"/>
            <a:ext cx="8320811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</a:pPr>
            <a:r>
              <a:rPr b="1" lang="e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References</a:t>
            </a:r>
            <a:endParaRPr sz="2400"/>
          </a:p>
        </p:txBody>
      </p:sp>
      <p:sp>
        <p:nvSpPr>
          <p:cNvPr id="257" name="Google Shape;257;p25"/>
          <p:cNvSpPr txBox="1"/>
          <p:nvPr/>
        </p:nvSpPr>
        <p:spPr>
          <a:xfrm>
            <a:off x="411480" y="925830"/>
            <a:ext cx="8320811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[1]  P. E. Hart, N. J. Nilsson and B. Raphael, “A Formal Basis for the Heuristic Determination of Minimum Cost Paths,” IEEE Trans. Systems Science and Cybernetics, vol. 4, no. 2, pp. 100–107, 1968.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[2]  H. Zhong, C. Xiao, C. Tu, T. Zhang, Z. Liu and M. Sun, “How Does NLP Benefit Legal System: A Summary of Legal Artificial Intelligence,” in Proc. 58th Annual Meeting of the ACL, pp. 5218–5230, 2020.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[3]  I. Chalkidis, M. Fergadiotis, P. Malakasiotis, N. Aletras and I. Androutsopoulos, “LEGAL-BERT: The Muppets straight out of Law School,” in Findings of EMNLP 2020, pp. 2898–2904, 2020.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[4]  M. Queudot, É. Charton and M.-J. Meurs, “Improving Access to Justice with Legal Chatbots,” Stats, vol. 3, no. 3, pp. 356–375, 2020, doi: 10.3390/stats3030023.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[5]  S. Paul, A. Mandal, P. Goyal and S. Ghosh, “Pre-trained Language Models for the Legal Domain: A Case Study on Indian Law,” in Proc. 19th Int. Conf. on Artificial Intelligence and Law (ICAIL), 2023.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[6]  S. Russell and P. Norvig, Artificial Intelligence: A Modern Approach, 4th ed. Pearson, 2020.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[7]  F. Pedregosa et al., “Scikit-learn: Machine Learning in Python,” Journal of Machine Learning Research, vol. 12, pp. 2825–2830, 2011.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[8]  Government of India — India Code (indiacode.nic.in), National Cyber Crime Reporting Portal (cybercrime.gov.in), e-Daakhil (edaakhil.nic.in).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 txBox="1"/>
          <p:nvPr>
            <p:ph idx="4294967295" type="sldNum"/>
          </p:nvPr>
        </p:nvSpPr>
        <p:spPr>
          <a:xfrm>
            <a:off x="8320811" y="4834890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6"/>
          <p:cNvSpPr txBox="1"/>
          <p:nvPr/>
        </p:nvSpPr>
        <p:spPr>
          <a:xfrm>
            <a:off x="411480" y="1577340"/>
            <a:ext cx="51435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mbria"/>
              <a:buNone/>
            </a:pPr>
            <a:r>
              <a:rPr b="1" i="0" lang="en" sz="45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6"/>
          <p:cNvSpPr txBox="1"/>
          <p:nvPr/>
        </p:nvSpPr>
        <p:spPr>
          <a:xfrm>
            <a:off x="411480" y="2400300"/>
            <a:ext cx="51435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Calibri"/>
              <a:buNone/>
            </a:pPr>
            <a:r>
              <a:rPr b="0" i="0" lang="en" sz="17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6" name="Google Shape;266;p26"/>
          <p:cNvCxnSpPr/>
          <p:nvPr/>
        </p:nvCxnSpPr>
        <p:spPr>
          <a:xfrm flipH="1">
            <a:off x="6446520" y="1371600"/>
            <a:ext cx="1028700" cy="960120"/>
          </a:xfrm>
          <a:prstGeom prst="straightConnector1">
            <a:avLst/>
          </a:prstGeom>
          <a:noFill/>
          <a:ln cap="flat" cmpd="sng" w="317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7" name="Google Shape;267;p26"/>
          <p:cNvCxnSpPr/>
          <p:nvPr/>
        </p:nvCxnSpPr>
        <p:spPr>
          <a:xfrm>
            <a:off x="7475220" y="1371600"/>
            <a:ext cx="685" cy="960120"/>
          </a:xfrm>
          <a:prstGeom prst="straightConnector1">
            <a:avLst/>
          </a:prstGeom>
          <a:noFill/>
          <a:ln cap="flat" cmpd="sng" w="158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68" name="Google Shape;268;p26"/>
          <p:cNvCxnSpPr/>
          <p:nvPr/>
        </p:nvCxnSpPr>
        <p:spPr>
          <a:xfrm>
            <a:off x="7475220" y="1371600"/>
            <a:ext cx="1028700" cy="960120"/>
          </a:xfrm>
          <a:prstGeom prst="straightConnector1">
            <a:avLst/>
          </a:prstGeom>
          <a:noFill/>
          <a:ln cap="flat" cmpd="sng" w="158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69" name="Google Shape;269;p26"/>
          <p:cNvCxnSpPr/>
          <p:nvPr/>
        </p:nvCxnSpPr>
        <p:spPr>
          <a:xfrm flipH="1">
            <a:off x="6172200" y="2331720"/>
            <a:ext cx="274320" cy="960120"/>
          </a:xfrm>
          <a:prstGeom prst="straightConnector1">
            <a:avLst/>
          </a:prstGeom>
          <a:noFill/>
          <a:ln cap="flat" cmpd="sng" w="317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0" name="Google Shape;270;p26"/>
          <p:cNvCxnSpPr/>
          <p:nvPr/>
        </p:nvCxnSpPr>
        <p:spPr>
          <a:xfrm>
            <a:off x="6446520" y="2331720"/>
            <a:ext cx="274320" cy="960120"/>
          </a:xfrm>
          <a:prstGeom prst="straightConnector1">
            <a:avLst/>
          </a:prstGeom>
          <a:noFill/>
          <a:ln cap="flat" cmpd="sng" w="158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71" name="Google Shape;271;p26"/>
          <p:cNvCxnSpPr/>
          <p:nvPr/>
        </p:nvCxnSpPr>
        <p:spPr>
          <a:xfrm flipH="1">
            <a:off x="7200900" y="2331720"/>
            <a:ext cx="274320" cy="960120"/>
          </a:xfrm>
          <a:prstGeom prst="straightConnector1">
            <a:avLst/>
          </a:prstGeom>
          <a:noFill/>
          <a:ln cap="flat" cmpd="sng" w="158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72" name="Google Shape;272;p26"/>
          <p:cNvCxnSpPr/>
          <p:nvPr/>
        </p:nvCxnSpPr>
        <p:spPr>
          <a:xfrm>
            <a:off x="7475220" y="2331720"/>
            <a:ext cx="274320" cy="960120"/>
          </a:xfrm>
          <a:prstGeom prst="straightConnector1">
            <a:avLst/>
          </a:prstGeom>
          <a:noFill/>
          <a:ln cap="flat" cmpd="sng" w="158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73" name="Google Shape;273;p26"/>
          <p:cNvSpPr/>
          <p:nvPr/>
        </p:nvSpPr>
        <p:spPr>
          <a:xfrm>
            <a:off x="7358634" y="1255014"/>
            <a:ext cx="233172" cy="233172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6"/>
          <p:cNvSpPr/>
          <p:nvPr/>
        </p:nvSpPr>
        <p:spPr>
          <a:xfrm>
            <a:off x="6329934" y="2215134"/>
            <a:ext cx="233172" cy="233172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6"/>
          <p:cNvSpPr/>
          <p:nvPr/>
        </p:nvSpPr>
        <p:spPr>
          <a:xfrm>
            <a:off x="7358634" y="2215134"/>
            <a:ext cx="233172" cy="233172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6"/>
          <p:cNvSpPr/>
          <p:nvPr/>
        </p:nvSpPr>
        <p:spPr>
          <a:xfrm>
            <a:off x="8387334" y="2215134"/>
            <a:ext cx="233172" cy="233172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6"/>
          <p:cNvSpPr/>
          <p:nvPr/>
        </p:nvSpPr>
        <p:spPr>
          <a:xfrm>
            <a:off x="6055614" y="3175254"/>
            <a:ext cx="233172" cy="233172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6"/>
          <p:cNvSpPr/>
          <p:nvPr/>
        </p:nvSpPr>
        <p:spPr>
          <a:xfrm>
            <a:off x="6604254" y="3175254"/>
            <a:ext cx="233172" cy="233172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6"/>
          <p:cNvSpPr/>
          <p:nvPr/>
        </p:nvSpPr>
        <p:spPr>
          <a:xfrm>
            <a:off x="7084314" y="3175254"/>
            <a:ext cx="233172" cy="233172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6"/>
          <p:cNvSpPr/>
          <p:nvPr/>
        </p:nvSpPr>
        <p:spPr>
          <a:xfrm>
            <a:off x="7632954" y="3175254"/>
            <a:ext cx="233172" cy="233172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egal Ink">
  <a:themeElements>
    <a:clrScheme name="Legal Ink">
      <a:dk1>
        <a:srgbClr val="1B2230"/>
      </a:dk1>
      <a:lt1>
        <a:srgbClr val="FFFFFF"/>
      </a:lt1>
      <a:dk2>
        <a:srgbClr val="4A5263"/>
      </a:dk2>
      <a:lt2>
        <a:srgbClr val="F3F1EC"/>
      </a:lt2>
      <a:accent1>
        <a:srgbClr val="8C2F2B"/>
      </a:accent1>
      <a:accent2>
        <a:srgbClr val="A87A34"/>
      </a:accent2>
      <a:accent3>
        <a:srgbClr val="2E6B4E"/>
      </a:accent3>
      <a:accent4>
        <a:srgbClr val="E4D6C0"/>
      </a:accent4>
      <a:accent5>
        <a:srgbClr val="6E7180"/>
      </a:accent5>
      <a:accent6>
        <a:srgbClr val="C9A15E"/>
      </a:accent6>
      <a:hlink>
        <a:srgbClr val="8C2F2B"/>
      </a:hlink>
      <a:folHlink>
        <a:srgbClr val="6E71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